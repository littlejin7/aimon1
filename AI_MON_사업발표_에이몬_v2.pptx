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[표지+데모 · 약 90초] 한 줄 프레이밍 후 바로 라이브 데모(30~60초): 홈 → 스테이지 퀴즈 → 일부러 오답 → AI 레벨별 피드백(하이라이트) → 보스 클리어+진화. 멘트: '코딩이 두려운 비전공자를 위한 학습 앱, 에이몬입니다. 말보다 먼저 보여드릴게요.' 데모 후: '방금 보신 이 경험이 왜 필요한지 말씀드리겠습니다.'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60초] 데모의 감흥을 문제로 연결. '방금 보신 게 왜 필요할까요?' 3대 이탈 지점을 천천히. 멘트: 'AI를 만들고 싶어 강의를 켰다가 환경설정에서 노트북을 덮은 경험, 있으시죠?' 목표 한 줄로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30초] 이름·역할만 빠르게. 핵심 메시지: '콘텐츠(문제 데이터)와 개발을 팀 내부에서 모두 소화했다.' 감사한 분(천지훈·김형민)은 한 번에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60초] 한 문장 컨셉으로 각인: '코딩을 공부가 아니라 육성 게임으로.' 브랜드 스토리(아몬)는 한 줄. 오른쪽 슬라임을 가리키며 '이 캐릭터가 여러분과 함께 자랍니다.' 악당 3종은 세계관 몰입 장치로 가볍게.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70초] 스펙 나열 금지, 각 기술을 혜택으로: 'Pyodide로 실행 서버 없이 → 비용↓', '캐싱+Rate Limit으로 AI 비용·어뷰징 통제', '수업 스택 그대로 써서 빠르게 구현.' 완성도 배지로 '만들다 만 게 아니다'를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60초] '진입 장벽 제로'가 메시지. 가입도 설치도 없이 첫 스테이지 체험 → 소셜 로그인 → 레벨 진단 → 에이원 Lv.1 + 왕관 5개로 시작. 멘트: '가입하면 캐릭터 한 마리와 함께 시작합니다. 이 캐릭터가 여러분과 같이 자랍니다.'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150초 · 발표의 클라이맥스] 톤을 낮추고 천천히. 데모의 오답 장면을 되짚으며 '이 순간이 에이몬의 심장'이라고 못 박기. 초/중/고 레벨별 설명 스타일 차이가 핵심. 정답 시 API 미호출·캐싱으로 비용 통제, code_input은 Pyodide로 브라우저 실행. 통과 기준(스테이지 60%), 오답노트 자동 저장→훈련 재출제도 한마디.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120초] 완주율(리텐션)을 만드는 게임 설계가 메시지. 유닛보스 HP 배틀의 긴장감, 3페이즈로 난이도가 오르는 엔드보스. 아래 진화 4단계(에이원 → 에이량 → 에이훈 → 에이왕)를 가리키며 '캐릭터가 자라는 게 곧 유저의 실력 그래프.' XP·왕관·스트릭으로 매일 돌아올 이유를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70초] '학습이 취업용 증거로 남고, 그 증거가 새 유저를 데려온다.' 인증카드→SNS→신규 유입의 바이럴 루프가 마케팅비 없는 성장 엔진. 포트폴리오·배지 일부는 Post-MVP임을 정직하게 밝히면 신뢰↑.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60초] 표를 한 줄씩 읽지 말고 '에이몬 열만 초록으로 꽉 찬다'를 먼저 보여준다. 멘트: 'Mimo·Sololearn은 문법에서 멈추고, 국내 엘리스는 라이브 강의형. 게임형 몰입+레벨별 AI 교정+결과물을 한 번에 주는 건 에이몬뿐.' 포트폴리오·배지 행은 로드맵임을 정직하게 덧붙이기. (2026.7 공개 정보 기준)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50초] '아이디어가 아니라 이미 작동하는 제품.' 문제데이터 100%·핵심 기능 완료로 실행 리스크가 낮음을 강조. 오른쪽 로드맵으로 '다음 단계로 완성할 부분'까지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40초 + QnA 2분] 비전 한 문장으로 마무리 후 세 가지 핵심(게임형 몰입·레벨별 AI 교정·결과물 증명) 재확인. 첫 장의 훅과 수미상관. QnA 대비: 수익모델(구독/힌트 재화, 무료 AI 유지) · 경쟁사 모방(콘텐츠·커리큘럼이 진입장벽) · 왜 파이썬만(초기 타겟 집중) · 리텐션(스트릭·진화·보스전). 기술 트러블슈팅(Pyodide 서버리스, 캐싱·Rate Limit, .env 보안)은 질문 시 답변.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6751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5568" y="548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코딩 학습 플랫폼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" y="128016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58368" y="230428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ED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에이몬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" y="29626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기초부터 AI 에이전트까지,  게임처럼 정복하다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3657600"/>
            <a:ext cx="32004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7F77DD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1304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6576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먼저, 라이브 데모부터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8368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사업발표 · Team 에이짱 · 2026</a:t>
            </a:r>
            <a:endParaRPr lang="en-US" sz="1200" dirty="0"/>
          </a:p>
        </p:txBody>
      </p:sp>
      <p:pic>
        <p:nvPicPr>
          <p:cNvPr id="12" name="Image 2" descr="assets/character_main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371600"/>
            <a:ext cx="3108960" cy="2075688"/>
          </a:xfrm>
          <a:prstGeom prst="rect">
            <a:avLst/>
          </a:prstGeom>
        </p:spPr>
      </p:pic>
      <p:pic>
        <p:nvPicPr>
          <p:cNvPr id="13" name="Image 3" descr="assets/crown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3749040"/>
            <a:ext cx="86868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기획 배경 &amp; 목표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비전공자는 왜 코딩 앞에서 멈출까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배우고 싶지만 시작·지속·증명, 세 곳에서 막힙니다.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603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94560"/>
            <a:ext cx="621792" cy="621792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74" y="2368662"/>
            <a:ext cx="273588" cy="273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시작이 두렵다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04672" y="32735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경험 0인 성인 입문자에게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설치·환경설정부터가 첫 좌절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19272" y="1965960"/>
            <a:ext cx="25603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5304" y="2194560"/>
            <a:ext cx="621792" cy="621792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406" y="2368662"/>
            <a:ext cx="273588" cy="273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75304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지루해서 이탈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575304" y="32735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문법 강의 · 동기부여 장치 부재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 만에 포기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9904" y="1965960"/>
            <a:ext cx="25603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45936" y="2194560"/>
            <a:ext cx="621792" cy="621792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038" y="2368662"/>
            <a:ext cx="273588" cy="273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결과물이 안 남음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345936" y="32735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달을 배워도 손에 쥐는 증거가 없어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포트폴리오로 이어지지 않음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114800"/>
            <a:ext cx="8046720" cy="658368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7939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07008" y="41148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지점을 </a:t>
            </a:r>
            <a:pPr indent="0" marL="0">
              <a:buNone/>
            </a:pPr>
            <a:r>
              <a:rPr lang="en-US" sz="13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게임화 · AI 피드백 · 결과물 자동화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각각 해결한다.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팀원 소개 &amp; 역할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에이짱 — 콘텐츠부터 개발까지 자체 소화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0" y="2057400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지혜원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· 백엔드 · PM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총괄 · 서버 · AI 연동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182880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2057400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sp>
        <p:nvSpPr>
          <p:cNvPr id="14" name="Text 12"/>
          <p:cNvSpPr/>
          <p:nvPr/>
        </p:nvSpPr>
        <p:spPr>
          <a:xfrm>
            <a:off x="43708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9272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이왕이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9272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UI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19272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컴포넌트 제작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9904" y="182880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41464" y="2057400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sp>
        <p:nvSpPr>
          <p:cNvPr id="20" name="Text 18"/>
          <p:cNvSpPr/>
          <p:nvPr/>
        </p:nvSpPr>
        <p:spPr>
          <a:xfrm>
            <a:off x="714146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89904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9904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· 콘텐츠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89904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· 커리큘럼 · 문제 데이터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EEED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41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감사한 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343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천지훈</a:t>
            </a:r>
            <a:pPr indent="0" marL="0">
              <a:buNone/>
            </a:pPr>
            <a:r>
              <a:rPr lang="en-US" sz="12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문제 데이터 제작 서포트      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김형민</a:t>
            </a:r>
            <a:pPr indent="0" marL="0">
              <a:buNone/>
            </a:pPr>
            <a:r>
              <a:rPr lang="en-US" sz="12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음악 제작 및 지원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서비스 개요 &amp; 세계관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코딩을 ‘공부’가 아닌 ‘육성 게임’으로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000707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에이몬 (AI-Mon)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2677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고대의 조력자 ‘아몬’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처럼, 복잡한 AI 기술을 비전공자도 다룰 수 있게 돕는 동반자.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8094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9260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듀오링고식 파이썬 퀴즈 → XP 획득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8328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32841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유닛을 깰수록 나만의 캐릭터 에이몬이 진화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8561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7307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 브라우저에서 바로 쓰는 PWA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806440" y="1600200"/>
            <a:ext cx="27889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pic>
        <p:nvPicPr>
          <p:cNvPr id="18" name="Image 4" descr="assets/character_slime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737360"/>
            <a:ext cx="1783080" cy="19659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97880" y="36758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“유저는 문제를 푸는 게 아니라,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5897880" y="3931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에이몬을 키웁니다.”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48640" y="4526280"/>
            <a:ext cx="8046720" cy="914"/>
          </a:xfrm>
          <a:prstGeom prst="roundRect">
            <a:avLst>
              <a:gd name="adj" fmla="val 2000875"/>
            </a:avLst>
          </a:prstGeom>
          <a:solidFill>
            <a:srgbClr val="EEEDFE"/>
          </a:solidFill>
          <a:ln/>
        </p:spPr>
      </p:sp>
      <p:sp>
        <p:nvSpPr>
          <p:cNvPr id="22" name="Text 15"/>
          <p:cNvSpPr/>
          <p:nvPr/>
        </p:nvSpPr>
        <p:spPr>
          <a:xfrm>
            <a:off x="54864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세계관 몰입 장치 · 악당 3종   </a:t>
            </a:r>
            <a:pPr indent="0" marL="0"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코드몬 · 말풍선킹 · 방해몬 — 유닛마다 대화를 방해하는 빌런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시스템 아키텍처 &amp; 기술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가볍게, 그러나 탄탄하게 만든 아키텍처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032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37944"/>
            <a:ext cx="493776" cy="493776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65" y="1976201"/>
            <a:ext cx="217261" cy="2172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20756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+ Vite (PWA)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19272" y="1645920"/>
            <a:ext cx="256032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837944"/>
            <a:ext cx="493776" cy="493776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697" y="1976201"/>
            <a:ext cx="217261" cy="2172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42232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142232" y="20756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(Python) · REST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9904" y="1645920"/>
            <a:ext cx="256032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1837944"/>
            <a:ext cx="493776" cy="493776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29" y="1976201"/>
            <a:ext cx="217261" cy="2172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12864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912864" y="20756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(3.5 haiku)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2670048"/>
            <a:ext cx="256032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2862072"/>
            <a:ext cx="493776" cy="493776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65" y="3000329"/>
            <a:ext cx="217261" cy="2172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2807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실행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371600" y="30998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Pyodide (WASM) · 서버리스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319272" y="2670048"/>
            <a:ext cx="256032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520440" y="2862072"/>
            <a:ext cx="493776" cy="493776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8697" y="3000329"/>
            <a:ext cx="217261" cy="21726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142232" y="2807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DB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142232" y="30998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→ Supabase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89904" y="2670048"/>
            <a:ext cx="256032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91072" y="2862072"/>
            <a:ext cx="493776" cy="493776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29" y="3000329"/>
            <a:ext cx="217261" cy="21726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12864" y="2807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912864" y="30998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· 구글·카카오·네이버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548640" y="384048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EEEDFE"/>
          </a:solidFill>
          <a:ln/>
        </p:spPr>
      </p:sp>
      <p:sp>
        <p:nvSpPr>
          <p:cNvPr id="37" name="Text 29"/>
          <p:cNvSpPr/>
          <p:nvPr/>
        </p:nvSpPr>
        <p:spPr>
          <a:xfrm>
            <a:off x="777240" y="39684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엔지니어링 완성도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777240" y="4334256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398264"/>
            <a:ext cx="164592" cy="16459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88136" y="433425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피드백 캐싱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2295144" y="4334256"/>
            <a:ext cx="23408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4872" y="4398264"/>
            <a:ext cx="164592" cy="16459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2606040" y="4334256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slowapi Rate Limit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4800600" y="4334256"/>
            <a:ext cx="190195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328" y="4398264"/>
            <a:ext cx="164592" cy="16459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111496" y="43342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APScheduler 배치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6867144" y="4334256"/>
            <a:ext cx="16824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6872" y="4398264"/>
            <a:ext cx="164592" cy="164592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178040" y="433425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Pyodide 서버리스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온보딩 &amp; 레벨 진단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설치도 가입도 없이, 첫 화면에서 바로 시작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28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61872" y="2221992"/>
            <a:ext cx="585216" cy="585216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732" y="2385852"/>
            <a:ext cx="257495" cy="2574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898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체험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32095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1-1을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없이 바로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450592" y="224028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A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2724912" y="1965960"/>
            <a:ext cx="1828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46704" y="2221992"/>
            <a:ext cx="585216" cy="585216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564" y="2385852"/>
            <a:ext cx="257495" cy="25749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24912" y="2898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로그인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724912" y="32095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구글·카카오·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OAuth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35424" y="224028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A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4809744" y="1965960"/>
            <a:ext cx="1828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31536" y="2221992"/>
            <a:ext cx="585216" cy="585216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396" y="2385852"/>
            <a:ext cx="257495" cy="25749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09744" y="2898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테스트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809744" y="32095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초·중·고급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 자동 배정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620256" y="224028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A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24" name="Shape 19"/>
          <p:cNvSpPr/>
          <p:nvPr/>
        </p:nvSpPr>
        <p:spPr>
          <a:xfrm>
            <a:off x="6894576" y="1965960"/>
            <a:ext cx="1828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516368" y="2221992"/>
            <a:ext cx="585216" cy="585216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228" y="2385852"/>
            <a:ext cx="257495" cy="25749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94576" y="2898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시작!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6894576" y="32095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에이원 Lv.1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왕관 5개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40080" y="4023360"/>
            <a:ext cx="7863840" cy="685800"/>
          </a:xfrm>
          <a:prstGeom prst="roundRect">
            <a:avLst>
              <a:gd name="adj" fmla="val 16000"/>
            </a:avLst>
          </a:prstGeom>
          <a:solidFill>
            <a:srgbClr val="EEEDFE"/>
          </a:solidFill>
          <a:ln/>
        </p:spPr>
      </p:sp>
      <p:sp>
        <p:nvSpPr>
          <p:cNvPr id="30" name="Text 24"/>
          <p:cNvSpPr/>
          <p:nvPr/>
        </p:nvSpPr>
        <p:spPr>
          <a:xfrm>
            <a:off x="868680" y="40233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대시보드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진도 현황 · 스트릭 · 데일리 미션으로 ‘오늘의 학습’을 매일 유도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핵심  |  학습 루프 &amp; AI 오답 피드백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순간, Claude AI가 레벨에 맞춰 다시 가르친다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→ 퀴즈 → (오답 시 AI 피드백) → 코드 실행 → 미니보스 → 다음 스테이지 잠금 해제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2084832"/>
            <a:ext cx="530352" cy="530352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83" y="2233331"/>
            <a:ext cx="233355" cy="2333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20848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 (오답 피드백)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4672" y="272491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+ 일상 예시로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틀렸는지 풀어서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19272" y="18745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57016" y="2084832"/>
            <a:ext cx="530352" cy="530352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515" y="2233331"/>
            <a:ext cx="233355" cy="23335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97096" y="20848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중급 (오답 피드백)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575304" y="272491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+ 코드 예시로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원인 분석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9904" y="18745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27648" y="2084832"/>
            <a:ext cx="530352" cy="530352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147" y="2233331"/>
            <a:ext cx="233355" cy="23335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67728" y="20848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(오답 피드백)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45936" y="272491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 + 엣지 케이스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최적 해법 제시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70332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86200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38039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API 미호출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005840" y="4114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4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explanation 즉시 출력 → 비용↓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319272" y="370332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3886200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76472" y="38039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피드백 캐싱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776472" y="4114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4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wrong_answers.json 중복 방지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89904" y="370332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3886200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47104" y="38039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Pyodide 코드 실행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547104" y="4114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4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바로 채점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54864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D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암기가 아니라 ‘왜 틀렸는지’를 이해시키는 것 — 에이몬의 심장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보스전 &amp; 성장·보상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긴장감 있는 보스전 + 눈에 보이는 성장 = 완주율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397764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82496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81051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16824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보스 — HP 배틀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2212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HP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91640" y="2231136"/>
            <a:ext cx="2651760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1691640" y="2217420"/>
            <a:ext cx="2606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" y="2505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HP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691640" y="2523744"/>
            <a:ext cx="2651760" cy="182880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/>
        </p:spPr>
      </p:sp>
      <p:sp>
        <p:nvSpPr>
          <p:cNvPr id="15" name="Text 12"/>
          <p:cNvSpPr/>
          <p:nvPr/>
        </p:nvSpPr>
        <p:spPr>
          <a:xfrm>
            <a:off x="1691640" y="2510028"/>
            <a:ext cx="2606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8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71216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5840" y="282549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→ 보스 −150 / 오답 → 나 −350 + AI 피드백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4553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0998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2회 무료 · 힌트코인 2회 · 클리어 XP 3,000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09160" y="1517904"/>
            <a:ext cx="388620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10328" y="1682496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1810512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77256" y="16824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엔드보스 — 3페이즈 종합전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910328" y="22128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534AB7"/>
          </a:solidFill>
          <a:ln/>
        </p:spPr>
      </p:sp>
      <p:sp>
        <p:nvSpPr>
          <p:cNvPr id="25" name="Text 19"/>
          <p:cNvSpPr/>
          <p:nvPr/>
        </p:nvSpPr>
        <p:spPr>
          <a:xfrm>
            <a:off x="4910328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532120" y="2194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읽기 5문제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910328" y="254203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534AB7"/>
          </a:solidFill>
          <a:ln/>
        </p:spPr>
      </p:sp>
      <p:sp>
        <p:nvSpPr>
          <p:cNvPr id="28" name="Text 22"/>
          <p:cNvSpPr/>
          <p:nvPr/>
        </p:nvSpPr>
        <p:spPr>
          <a:xfrm>
            <a:off x="4910328" y="25420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532120" y="25237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4문제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910328" y="2871216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534AB7"/>
          </a:solidFill>
          <a:ln/>
        </p:spPr>
      </p:sp>
      <p:sp>
        <p:nvSpPr>
          <p:cNvPr id="31" name="Text 25"/>
          <p:cNvSpPr/>
          <p:nvPr/>
        </p:nvSpPr>
        <p:spPr>
          <a:xfrm>
            <a:off x="4910328" y="28712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532120" y="2852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결정타 · 재시도 3회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10328" y="3200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클리어 → XP 15,000 · 왕관 15 · 칭호 python_master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48640" y="356616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EEEDFE"/>
          </a:solidFill>
          <a:ln/>
        </p:spPr>
      </p:sp>
      <p:sp>
        <p:nvSpPr>
          <p:cNvPr id="35" name="Text 29"/>
          <p:cNvSpPr/>
          <p:nvPr/>
        </p:nvSpPr>
        <p:spPr>
          <a:xfrm>
            <a:off x="777240" y="3639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성장·보상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레벨과 엔드보스 클리어로 캐릭터가 4단계 진화</a:t>
            </a:r>
            <a:endParaRPr lang="en-US" sz="1150" dirty="0"/>
          </a:p>
        </p:txBody>
      </p:sp>
      <p:pic>
        <p:nvPicPr>
          <p:cNvPr id="36" name="Image 4" descr="assets/character_slime_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2960" y="3931920"/>
            <a:ext cx="530352" cy="5303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30936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에이원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353312" y="3931920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A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pic>
        <p:nvPicPr>
          <p:cNvPr id="39" name="Image 5" descr="assets/character_robot_t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700784" y="3931920"/>
            <a:ext cx="530352" cy="53035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508760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에이량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2231136" y="3931920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A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pic>
        <p:nvPicPr>
          <p:cNvPr id="42" name="Image 6" descr="assets/character_bubble_t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578608" y="3931920"/>
            <a:ext cx="530352" cy="53035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386584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에이훈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3108960" y="3931920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A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pic>
        <p:nvPicPr>
          <p:cNvPr id="45" name="Image 7" descr="assets/character_final_ghost_t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456432" y="3931920"/>
            <a:ext cx="530352" cy="53035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3264408" y="4498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에이왕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443484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 레벨업</a:t>
            </a:r>
            <a:pPr indent="0" marL="0"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왕관(힌트·재도전)  ·  스트릭 3·7·14·30일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4434840" y="4315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리미트 해제 시 XP 무한 누적 · 랭킹 연동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결과물 &amp; 확산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게 남고, 그 증거가 다시 유저를 부른다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886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911096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" y="2064715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인증카드 자동 생성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2221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클리어 시 캐릭터·보스명·시간·날짜 카드 → PNG·공개링크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691640"/>
            <a:ext cx="3886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01184" y="1911096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803" y="2064715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대시보드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2221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클리어 코드가 프로젝트 카드로 자동 등록 → 공개 URL로 면접관 공유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990088"/>
            <a:ext cx="3886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3209544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" y="3363163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172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깃허브 배지 발급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6304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자동 생성 → GitHub README 삽입 코드 즉시 제공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2990088"/>
            <a:ext cx="3886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01184" y="3209544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803" y="3363163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172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바이럴 루프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7784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인증카드 SNS 공유 → 신규 유입 → 도전 → 다시 공유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370832"/>
            <a:ext cx="8046720" cy="402336"/>
          </a:xfrm>
          <a:prstGeom prst="roundRect">
            <a:avLst>
              <a:gd name="adj" fmla="val 27273"/>
            </a:avLst>
          </a:prstGeom>
          <a:solidFill>
            <a:srgbClr val="EEEDFE"/>
          </a:solidFill>
          <a:ln/>
        </p:spPr>
      </p:sp>
      <p:sp>
        <p:nvSpPr>
          <p:cNvPr id="27" name="Text 21"/>
          <p:cNvSpPr/>
          <p:nvPr/>
        </p:nvSpPr>
        <p:spPr>
          <a:xfrm>
            <a:off x="777240" y="437083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근거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자동 생성 + 깃허브 배지 직접 발급을 동시에 주는 입문 플랫폼은 현재 없음</a:t>
            </a:r>
            <a:pPr indent="0" marL="0">
              <a:buNone/>
            </a:pPr>
            <a:r>
              <a:rPr lang="en-US" sz="1050" dirty="0">
                <a:solidFill>
                  <a:srgbClr val="9999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(일부 Post-MVP)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경쟁사 비교 &amp; 차별점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경쟁 비교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9377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지원   △ 부분   ✕ 미지원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267004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82112" y="1572768"/>
            <a:ext cx="1225296" cy="2450592"/>
          </a:xfrm>
          <a:prstGeom prst="roundRect">
            <a:avLst>
              <a:gd name="adj" fmla="val 7463"/>
            </a:avLst>
          </a:prstGeom>
          <a:solidFill>
            <a:srgbClr val="EEEDF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9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차별 요소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609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609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1609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Sololearn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1609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1396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게임형 육성·진화 캐릭터</a:t>
            </a:r>
            <a:endParaRPr lang="en-US" sz="11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212848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480560" y="21396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21396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212848"/>
            <a:ext cx="237744" cy="23774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31520" y="2523744"/>
            <a:ext cx="7680960" cy="0"/>
          </a:xfrm>
          <a:prstGeom prst="line">
            <a:avLst/>
          </a:prstGeom>
          <a:noFill/>
          <a:ln w="12700">
            <a:solidFill>
              <a:srgbClr val="EEED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25237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레벨별 AI 오답 피드백</a:t>
            </a:r>
            <a:endParaRPr lang="en-US" sz="11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259689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80560" y="25237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852160" y="25237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2596896"/>
            <a:ext cx="237744" cy="23774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1520" y="2907792"/>
            <a:ext cx="7680960" cy="0"/>
          </a:xfrm>
          <a:prstGeom prst="line">
            <a:avLst/>
          </a:prstGeom>
          <a:noFill/>
          <a:ln w="12700">
            <a:solidFill>
              <a:srgbClr val="EEEDF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77240" y="29077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→ AI 에이전트 한 여정</a:t>
            </a:r>
            <a:endParaRPr lang="en-US" sz="11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2980944"/>
            <a:ext cx="237744" cy="237744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2980944"/>
            <a:ext cx="237744" cy="237744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2980944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23760" y="2907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731520" y="3291840"/>
            <a:ext cx="7680960" cy="0"/>
          </a:xfrm>
          <a:prstGeom prst="line">
            <a:avLst/>
          </a:prstGeom>
          <a:noFill/>
          <a:ln w="12700">
            <a:solidFill>
              <a:srgbClr val="EEEDF6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777240" y="32918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포트폴리오·깃허브 배지 자동</a:t>
            </a:r>
            <a:endParaRPr lang="en-US" sz="11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5888" y="3364992"/>
            <a:ext cx="237744" cy="237744"/>
          </a:xfrm>
          <a:prstGeom prst="rect">
            <a:avLst/>
          </a:prstGeom>
        </p:spPr>
      </p:pic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7488" y="3364992"/>
            <a:ext cx="237744" cy="237744"/>
          </a:xfrm>
          <a:prstGeom prst="rect">
            <a:avLst/>
          </a:prstGeom>
        </p:spPr>
      </p:pic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3364992"/>
            <a:ext cx="237744" cy="237744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90688" y="3364992"/>
            <a:ext cx="237744" cy="237744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731520" y="3675888"/>
            <a:ext cx="7680960" cy="0"/>
          </a:xfrm>
          <a:prstGeom prst="line">
            <a:avLst/>
          </a:prstGeom>
          <a:noFill/>
          <a:ln w="12700">
            <a:solidFill>
              <a:srgbClr val="EEEDF6"/>
            </a:solidFill>
            <a:prstDash val="solid"/>
          </a:ln>
        </p:spPr>
      </p:sp>
      <p:sp>
        <p:nvSpPr>
          <p:cNvPr id="38" name="Text 25"/>
          <p:cNvSpPr/>
          <p:nvPr/>
        </p:nvSpPr>
        <p:spPr>
          <a:xfrm>
            <a:off x="777240" y="3675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한국어·비전공 성인 특화</a:t>
            </a:r>
            <a:endParaRPr lang="en-US" sz="115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75888" y="3749040"/>
            <a:ext cx="237744" cy="237744"/>
          </a:xfrm>
          <a:prstGeom prst="rect">
            <a:avLst/>
          </a:prstGeom>
        </p:spPr>
      </p:pic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7488" y="3749040"/>
            <a:ext cx="237744" cy="237744"/>
          </a:xfrm>
          <a:prstGeom prst="rect">
            <a:avLst/>
          </a:prstGeom>
        </p:spPr>
      </p:pic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9088" y="3749040"/>
            <a:ext cx="237744" cy="237744"/>
          </a:xfrm>
          <a:prstGeom prst="rect">
            <a:avLst/>
          </a:prstGeom>
        </p:spPr>
      </p:pic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90688" y="3749040"/>
            <a:ext cx="237744" cy="237744"/>
          </a:xfrm>
          <a:prstGeom prst="rect">
            <a:avLst/>
          </a:prstGeom>
        </p:spPr>
      </p:pic>
      <p:sp>
        <p:nvSpPr>
          <p:cNvPr id="43" name="Shape 26"/>
          <p:cNvSpPr/>
          <p:nvPr/>
        </p:nvSpPr>
        <p:spPr>
          <a:xfrm>
            <a:off x="548640" y="4279392"/>
            <a:ext cx="713232" cy="329184"/>
          </a:xfrm>
          <a:prstGeom prst="roundRect">
            <a:avLst>
              <a:gd name="adj" fmla="val 22222"/>
            </a:avLst>
          </a:prstGeom>
          <a:solidFill>
            <a:srgbClr val="534AB7"/>
          </a:solidFill>
          <a:ln/>
        </p:spPr>
      </p:sp>
      <p:sp>
        <p:nvSpPr>
          <p:cNvPr id="44" name="Text 27"/>
          <p:cNvSpPr/>
          <p:nvPr/>
        </p:nvSpPr>
        <p:spPr>
          <a:xfrm>
            <a:off x="548640" y="427939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100" dirty="0"/>
          </a:p>
        </p:txBody>
      </p:sp>
      <p:sp>
        <p:nvSpPr>
          <p:cNvPr id="45" name="Text 28"/>
          <p:cNvSpPr/>
          <p:nvPr/>
        </p:nvSpPr>
        <p:spPr>
          <a:xfrm>
            <a:off x="1371600" y="427939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게임형 몰입 · 레벨별 AI 교정 · 결과물까지 잇는 </a:t>
            </a:r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유일의 입문→AI 여정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개발 현황 &amp; 로드맵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작동하는 제품 — 데이터·핵심 기능 완료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84632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10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— 구현 완료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6771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2221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테스트 → 대시보드 레벨 배지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6090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26151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퀴즈 · 미니보스 통과 로직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30083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시 Claude AI 레벨별 피드백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4728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34015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보스 HP 배틀 (하루 2회 무료)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4048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5568" y="37947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 · 레벨업 · 왕관 · 캐릭터 진화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233672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15568" y="41879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로그인 3종 · 스트릭 리마인더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5577840" y="160020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7F77DD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557784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22" name="Text 14"/>
          <p:cNvSpPr/>
          <p:nvPr/>
        </p:nvSpPr>
        <p:spPr>
          <a:xfrm>
            <a:off x="5577840" y="24323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EED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초·중·고급 전 유닛(1–8) 문제 세트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EED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완료 및 빌드 적용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5577840" y="3246120"/>
            <a:ext cx="3017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5806440" y="34015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(Post-MVP)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833872" y="38404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18"/>
          <p:cNvSpPr/>
          <p:nvPr/>
        </p:nvSpPr>
        <p:spPr>
          <a:xfrm>
            <a:off x="6016752" y="3767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인증카드·포트폴리오 자동화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5833872" y="41513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0"/>
          <p:cNvSpPr/>
          <p:nvPr/>
        </p:nvSpPr>
        <p:spPr>
          <a:xfrm>
            <a:off x="6016752" y="40782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깃허브 배지 API 연동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833872" y="44622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2"/>
          <p:cNvSpPr/>
          <p:nvPr/>
        </p:nvSpPr>
        <p:spPr>
          <a:xfrm>
            <a:off x="6016752" y="4389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미니게임·리더보드·커뮤니티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입문의 두려움을 게임의 설렘으로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에이몬은 비전공자가 ‘나도 AI를 만들 수 있다’를 처음 경험하는 곳이 되겠습니다.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9576" y="2286000"/>
            <a:ext cx="475488" cy="475488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713" y="2419137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761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게임형 몰입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395728" y="214884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26664" y="2286000"/>
            <a:ext cx="475488" cy="475488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801" y="2419137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95728" y="2761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레벨별 AI 교정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242816" y="214884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73752" y="2286000"/>
            <a:ext cx="475488" cy="475488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889" y="2419137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42816" y="2761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결과물로 증명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38328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7F77DD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48640" y="3383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· QnA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에이짱</a:t>
            </a:r>
            <a:pPr indent="0" marL="0">
              <a:buNone/>
            </a:pPr>
            <a:r>
              <a:rPr lang="en-US" sz="1200" dirty="0">
                <a:solidFill>
                  <a:srgbClr val="C9C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지혜원 · 이왕이 · 이해량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0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leehaeryang@gmail.com</a:t>
            </a:r>
            <a:endParaRPr lang="en-US" sz="1100" dirty="0"/>
          </a:p>
        </p:txBody>
      </p:sp>
      <p:pic>
        <p:nvPicPr>
          <p:cNvPr id="21" name="Image 3" descr="assets/character_final_ghost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286000"/>
            <a:ext cx="2240280" cy="2240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MON 에이몬 — 사업발표</dc:title>
  <dc:subject>PptxGenJS Presentation</dc:subject>
  <dc:creator>에이짱</dc:creator>
  <cp:lastModifiedBy>에이짱</cp:lastModifiedBy>
  <cp:revision>1</cp:revision>
  <dcterms:created xsi:type="dcterms:W3CDTF">2026-07-09T19:05:50Z</dcterms:created>
  <dcterms:modified xsi:type="dcterms:W3CDTF">2026-07-09T19:05:50Z</dcterms:modified>
</cp:coreProperties>
</file>